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minutes total. 5 intro, 5 context, 15 deep dive, 10 results, 25 Q&amp;A.
Open by naming the question, not the framework: 'a customer pays you $100k a year — are they using it?'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this is you talking, not the slide. Keep the slide bare and carry the proof in the script.
CUSTOMER CENTRICITY — Teams Queues App. I prioritized the metrics call-centre supervisors actually needed over the ones that were easy to instrument. Wait times down 50%, 25x adoption in six months.
PLATFORM THINKING — M365's first compliant streaming platform. 1M events per second, phishing response from two hours to under five minutes, model recall 60% to 90%. And a unified telemetry product across Event Hubs and Service Bus that surfaced $200K a month in billing discrepancies nobody knew existed. You cannot fix what you cannot see.
LEARNING — this case study. BigQuery, dbt-style SQL and Streamlit, none of which I had used before last week. Say this one out loud: it makes Learning a demonstration rather than a claim, and it pre-empts 'you have never worked in BigQuery.'
Close on the quote, then go straight into the four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Three easy yeses, then the miss. Pause after the fourth row.
Do NOT give the precise dollar figure here — it means nothing before the metric is defined, and asserting it invites 'converted according to what?'. Open the loop instead and close it on the results slide.
Then the honest line: 'I don't have your data, so I built a business that looks like yours — 100 customers, 500 SKUs, 2,000 features, 15 months — and tested the framework against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— the most important slide in the deck. Do not rush it.
Lead with the square, not the formula: 'Everything a customer could get from a SKU is a square — all their features on one side, all their capacity on the other. VRR is how much of that square they actually occupy.'
Then the analogy if it helps: VRR is occupancy for software. A hotel with 100 rooms open 365 days sells a fraction of its room-nights. Nobody expects 100%, and a hotel running at 100% did not build enough rooms.
ANSWER THESE BEFORE THEY ASK:
· Is it utilization? No — utilization is one side of the square. VRR is the area.
· Can it be 0? Yes. No features, or no consumption, collapses the area.
· Can it be 100%? Yes — and that account is out of room. It is an upsell signal, not a win.
· Do NOT say 'typical range is 20-50%' as though the metric imposes it. What you observe is that enterprise customers buy broad and deploy narrow. The observation IS the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centerpiece. Walk the four boxes, naming the owner each time:
· Bottom-left, not started — rescue, CS leadership
· Bottom-right, running hot on one thing — they'll hit the cap and renegotiate on price. Sales + Product
· Top-left, set up never scaled — enablement, CSM
· Top-right, realizing value — expansion, Sales
If asked why a box is thin: this book is bimodal — accounts are either broadly working or completely dead. Move the slider live to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Lead with 4%. Let it land before explaining. THEN close the loop you opened on slide 3 with the $13.2M — by now it is earned rather than asserted.
The reframe: a spike at one feature is not a hundred customer problems — it is one packaging or onboarding problem, fixable once across every account on that SKU. That makes it a Product decision, not a CSM one.
Precision: these are customer–SKU relationships, not customers. Say it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Open the browser tab BEFORE the session starts — never launch it live.
Share the browser window only, not the desktop.
If anything fails: stay on this slide, talk through the four moves, and point at the screenshots already in this deck — slides 5 and 6 are both live captures. Do not debug in front of the panel.
Pick your drill-down account in advance and know its numbers cold.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The altitude idea: the questions never change, only the resolution.
On the owner view — name it, don't sell it. 'Eventually this supports a compensation conversation. That is not today's ask, and I would want a year of history before attaching it to pay.'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This is the END of the presentation — state the ask, stop talking, let them respond.
If pushed on comp: 'I'd want a year of history before attaching this to anyone's pay. Today I'm asking for agreement on the measurement.'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presentation ends on the ask. Stop here and hand over.
If they want to keep going, offer the choice: 'I have four slides on how it was built and what went wrong — happy to walk them, or take questions and pull them up as needed.'
Most panels will choose questions. Let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DML story is the one to tell: I assumed nothing and tested the environment. That test is checked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Their brief says edge-case handling is weighted heavily — this is the differentiation slide. Spend the time on the three that changed the framework, not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Demo the Data Quality tab here — it is the least expected thing you will show and the most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min, and do not rush it. Naming your own $1.9B error before anyone asks is worth more than any slide in this deck.
Close on the third one — it hands you the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 Adoption &amp;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22960" y="3840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what customers bought actually being used —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the gap worth?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Suraj Iyer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themes define my career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Product Manager, Microsoft 365 Data Platform.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Ten years building data and ML platform products.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Sigma  →  Bing Ads  →  Azure Event Hubs  →  Microsoft 365.</a:t>
            </a:r>
            <a:pPr indent="0" marL="0">
              <a:buNone/>
            </a:pPr>
            <a:r>
              <a:rPr lang="en-US" sz="16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measurement layer other teams build 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Centricity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4270248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4568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</a:t>
            </a:r>
            <a:endParaRPr lang="en-US" sz="2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Thinking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991856" y="278892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66176" y="306324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13892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“Building large platforms and data products that solve customers' problems, while I keep learning, is what I love — and that's what brings me here today.”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a software business answers precisely. The fourth is the hard one.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55064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 we sell?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SKU, every feature, catalogued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818120" y="172821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441448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96312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did we sell?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80720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dollar, to the unit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18120" y="25694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3282696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3756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did we sell it to?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8680" y="364845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region, industry, contract terms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1812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123944"/>
            <a:ext cx="8138160" cy="713232"/>
          </a:xfrm>
          <a:prstGeom prst="roundRect">
            <a:avLst>
              <a:gd name="adj" fmla="val 7692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78808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they doing with it?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448970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definition, no shared number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4251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961120" y="1600200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81160" y="187452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fourth question is the only one that tells you whether the first three will still be true next year.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1160" y="370332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tells you what a customer bought.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tell you whether it mattered.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519379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half</a:t>
            </a:r>
            <a:pPr indent="0" marL="0">
              <a:buNone/>
            </a:pPr>
            <a:r>
              <a:rPr lang="en-US" sz="17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of what customers buy never converts into use — and nobody sees it until the renewal call.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48640" y="568756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then the only lever left is a discount. I'll show you exactly how I get to that number — and you should hold me to it.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Realization Rate (VRR) is occupancy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VRR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features they use</a:t>
            </a:r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×   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of their capacity they use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Acme could get from this SKU is a square. They occupy 26% of 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51560" y="2578608"/>
            <a:ext cx="4206240" cy="2286000"/>
          </a:xfrm>
          <a:prstGeom prst="rect">
            <a:avLst/>
          </a:prstGeom>
          <a:solidFill>
            <a:srgbClr val="F4F6FA"/>
          </a:solidFill>
          <a:ln w="12700">
            <a:solidFill>
              <a:srgbClr val="DE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4114800"/>
            <a:ext cx="3364992" cy="749808"/>
          </a:xfrm>
          <a:prstGeom prst="rect">
            <a:avLst/>
          </a:pr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4251960"/>
            <a:ext cx="3364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headroom  ·  $74k a year on this one account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 rot="16200000">
            <a:off x="228600" y="2578608"/>
            <a:ext cx="685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" y="491947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capacity →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760720" y="21945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Financial  ·  $100k/year  ·  4 features  ·  10M credits  ·  monthly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760720" y="2578608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2679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they use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549640" y="27157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of 4, value-weighted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0" y="2633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33%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760720" y="3236976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3375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they use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49640" y="33741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667k of 833k credits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15600" y="32918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760720" y="3895344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0" y="39959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the square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549640" y="40325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× 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39502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26%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760720" y="4590288"/>
            <a:ext cx="5852160" cy="6858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35040" y="47365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bought a platform and deployed a point tool. Neither number catches that alone.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is not the target.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account at 100% has no headroom left — they are under-provisioned, not healthy. It is an upsell signal.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5440680"/>
            <a:ext cx="5440680" cy="822960"/>
          </a:xfrm>
          <a:prstGeom prst="roundRect">
            <a:avLst>
              <a:gd name="adj" fmla="val 6667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46520" y="555955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grade.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46520" y="57972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is unclaimed value you have already sold. The empty part of the square is the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score, four different problems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 tells you an account is at 26%. The two factors tell you which of four conversations to have — and who should have it.</a:t>
            </a:r>
            <a:endParaRPr lang="en-US" sz="1400" dirty="0"/>
          </a:p>
        </p:txBody>
      </p:sp>
      <p:pic>
        <p:nvPicPr>
          <p:cNvPr id="5" name="Image 0" descr="docs/screenshots/crop_quadr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903720" cy="26060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920240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4112" y="2139696"/>
            <a:ext cx="155448" cy="1554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8" name="Text 5"/>
          <p:cNvSpPr/>
          <p:nvPr/>
        </p:nvSpPr>
        <p:spPr>
          <a:xfrm>
            <a:off x="8010144" y="1984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104120" y="19842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accounts · $3.9M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10144" y="2231136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rescue  ·  CS leadership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589520" y="2587752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54112" y="2807208"/>
            <a:ext cx="155448" cy="155448"/>
          </a:xfrm>
          <a:prstGeom prst="ellipse">
            <a:avLst/>
          </a:prstGeom>
          <a:solidFill>
            <a:srgbClr val="B37400"/>
          </a:solidFill>
          <a:ln/>
        </p:spPr>
      </p:sp>
      <p:sp>
        <p:nvSpPr>
          <p:cNvPr id="13" name="Text 10"/>
          <p:cNvSpPr/>
          <p:nvPr/>
        </p:nvSpPr>
        <p:spPr>
          <a:xfrm>
            <a:off x="8010144" y="2651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hot on one thing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104120" y="26517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3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accounts · $1.5M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010144" y="289864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will hit the cap and renegotiate on price  ·  Sales + Product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255264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54112" y="3474720"/>
            <a:ext cx="155448" cy="155448"/>
          </a:xfrm>
          <a:prstGeom prst="ellipse">
            <a:avLst/>
          </a:prstGeom>
          <a:solidFill>
            <a:srgbClr val="5A5F6B"/>
          </a:solidFill>
          <a:ln/>
        </p:spPr>
      </p:sp>
      <p:sp>
        <p:nvSpPr>
          <p:cNvPr id="18" name="Text 15"/>
          <p:cNvSpPr/>
          <p:nvPr/>
        </p:nvSpPr>
        <p:spPr>
          <a:xfrm>
            <a:off x="8010144" y="3319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up, never scaled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104120" y="33192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at this threshold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010144" y="356616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Enablement — why hasn't volume grown?  ·  Customer Success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589520" y="3922776"/>
            <a:ext cx="4023360" cy="585216"/>
          </a:xfrm>
          <a:prstGeom prst="roundRect">
            <a:avLst>
              <a:gd name="adj" fmla="val 9375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54112" y="4142232"/>
            <a:ext cx="155448" cy="1554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23" name="Text 20"/>
          <p:cNvSpPr/>
          <p:nvPr/>
        </p:nvSpPr>
        <p:spPr>
          <a:xfrm>
            <a:off x="8010144" y="39867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Realizing value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10104120" y="39867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accounts · $7.8M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010144" y="4233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conversation  ·  Sales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49834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Bottom-left is a rescue. Bottom-right is a pricing conversation waiting to happen. Top-left is an enablement gap. Top-right is where expansion comes from.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68680" y="54406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the dashboard, and the threshold is a slider — so “high” is a dial, not a decree. Bubble size is contract value; hovering gives the account, its score, and what it is worth.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 — and the number that should worry you</a:t>
            </a:r>
            <a:endParaRPr lang="en-US" sz="3400" dirty="0"/>
          </a:p>
        </p:txBody>
      </p:sp>
      <p:pic>
        <p:nvPicPr>
          <p:cNvPr id="4" name="Image 0" descr="docs/screenshots/crop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2596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2194560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every feature they bought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70248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498848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5916168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one feature or none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991856" y="4434840"/>
            <a:ext cx="3520440" cy="1143000"/>
          </a:xfrm>
          <a:prstGeom prst="roundRect">
            <a:avLst>
              <a:gd name="adj" fmla="val 48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0456" y="4617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74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9637776" y="46817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no Core feature at all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5742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where the number from earlier comes from:  </a:t>
            </a:r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$13.2M of $25M</a:t>
            </a:r>
            <a:pPr indent="0" marL="0">
              <a:buNone/>
            </a:pPr>
            <a:r>
              <a:rPr lang="en-US" sz="14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 active contract value is not converting.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means the Core feature is among those in use; orange means it is not. Counted per customer–SKU relationship, not per customer.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moves in the dashboard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here is read from the pipeline. Nothing is computed in the app — the dashboard and the tests are looking at the same numbers.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624328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24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56946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on the Overview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0" y="253288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line first: data complete through July, three internal accounts excluded, eighty-four duplicate rows removed.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57016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63040" y="35021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threshold slider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346557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account, plotted. Drag 50% to 70% and watch them redistribute. “High” is a dial, not a decree.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384048" cy="384048"/>
          </a:xfrm>
          <a:prstGeom prst="ellipse">
            <a:avLst/>
          </a:prstGeom>
          <a:solidFill>
            <a:srgbClr val="EB683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Drill into one account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54880" y="439826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named features they are paying for and not using — three of them the reason they bought it. This is what a CSM opens.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422392"/>
            <a:ext cx="384048" cy="384048"/>
          </a:xfrm>
          <a:prstGeom prst="ellipse">
            <a:avLst/>
          </a:prstGeom>
          <a:solidFill>
            <a:srgbClr val="2E3B7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63040" y="5367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Data Quality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754880" y="533095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this pipeline dropped, with a reason and a count, appended on every run.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63093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3 is the one that matters — it is where a metric becomes a phone call.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metric, three altitudes, one accountable owner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09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CPO &amp; GMs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invest, what to repackage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score and dollars not converting, cut by segment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614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SKU is failing, and in which of the four ways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2918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Feature-level adoption inside each SKU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585216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130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CSM &amp; Sales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account to call this week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34340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unused features and what they are worth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1600200"/>
            <a:ext cx="4937760" cy="3108960"/>
          </a:xfrm>
          <a:prstGeom prst="roundRect">
            <a:avLst>
              <a:gd name="adj" fmla="val 1765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7830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flag ends in a worklist, not a score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949440" y="221284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CSM actually opens: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2542032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“Acme Financial is paying for 13 features they did not use this month — </a:t>
            </a:r>
            <a:pPr indent="0" marL="0">
              <a:buNone/>
            </a:pPr>
            <a:r>
              <a:rPr lang="en-US" sz="1300" b="1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of them are the reason the SKU was bought</a:t>
            </a:r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Roughly $1.8M a year of contract value sits behind this list.”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6576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named features, ranked by how much they matter — Core first.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49440" y="42062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“this account scores 26%.”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5029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becomes accountable.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8680" y="53766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 = contract value × (1 − VRR). It is in dollars, so it sums by account owner. Quarter over quarter you can see how much at-risk value each owner moved — the bridge from a metric to a motion.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 on Value Realization Rate as how we measure adoption.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788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definition. One calculation. Every team reading the same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378561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37124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63240" y="3712464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metric and the calculation. Everything downstream depends on one number we all accept.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462686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45537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quarter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063240" y="4553712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 against real renewal history. Does it predict churn earlier than NRR?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5468112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5394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63240" y="5394960"/>
            <a:ext cx="8275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feature weights from outcomes instead of judgment — then, and only then, the incentive conversation.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detail, for the questions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31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trade-offs  ·  the twelve messy realities  ·  how I know the number is right  ·  what I got wrong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84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 ends on the previous slide. Everything past here exists to be challenged.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data flows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· 500 SKUs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features · 15 months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15184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79776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6936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16936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16936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Sandbox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raw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row-count verified on load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10912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EEF2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8072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48072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148072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 models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→ intermediate → marts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77456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242048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79208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79208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379208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mart tables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· SKU · feature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· executive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2860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3184" y="1645920"/>
            <a:ext cx="2048256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10344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10344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10344" y="23317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views, read-only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computed in the UI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worth defending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54864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Full-refresh CTAS, not incremental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343400" y="3931920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sandbox blocks DML — I verified that with a smoke test rather than reading it in docs. It is also the right call at this volume: idempotent, no state drift.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45537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diagnose, dollars prioritize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343400" y="4553712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Percentages cannot be summed across customers. Dollars can, so Value at Risk aggregates to any cut of the business.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48640" y="51755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Streamlit, not React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343400" y="5175504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deliberate speed trade-off. The deliverable is a decision, not a product.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5797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hardcoded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343400" y="5797296"/>
            <a:ext cx="7269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Project, dataset, and thresholds all come from config. The pipeline runs against any BigQuery instance by changing one file.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DATA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hard part: the data is a liar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realities injected on purpose. Five were specified. Seven I added, because they are what actually breaks adoption metrics in production.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BEHAVIOUR  ·  5, SPECIFIED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Shelfware · burn-and-stop · chronic overage · mid-year expansion · brand-new deployments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1481328"/>
          </a:xfrm>
          <a:prstGeom prst="roundRect">
            <a:avLst>
              <a:gd name="adj" fmla="val 3704"/>
            </a:avLst>
          </a:prstGeom>
          <a:solidFill>
            <a:srgbClr val="FDF1EC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20482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 ·  7, ADDED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9224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rows · unlimited contracts · usage on unbought features · lapsed renewals · late-arriving data · internal test accounts · multi-currency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657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of them changed the framework, not just the cleaning rules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contracts have no denominator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51960" y="4114800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“Unlimited” deals are scored on feature coverage alone. Substituting 100% would make them look like the healthiest accounts in the portfolio.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77316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third state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51960" y="4773168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lapsed renewal is not healthy and not at risk — it is not applicable, and produces no row at all. Most frameworks only have two states.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4315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can be correct but not final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51960" y="5431536"/>
            <a:ext cx="7360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month is marked incomplete and drawn greyed. Hide that, and the first time an exec notices it move, they stop trusting every number.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tests check the answer, not the plumbing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planted twelve problems in the data, then tested whether the metric found them — without ever letting the pipeline see the labels.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truth the pipeline cannot see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generator secretly labels each customer's intended behaviour in a column no model reads. The tests ask whether the metric independently rediscovered what was planted.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automated tests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injection, business-answer correctness, and invariants — including one that simply asserts the portfolio value is plausible.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67328"/>
            <a:ext cx="5394960" cy="896112"/>
          </a:xfrm>
          <a:prstGeom prst="roundRect">
            <a:avLst>
              <a:gd name="adj" fmla="val 6122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dropped row is on the record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151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cleaning step logs rows in, rows out, and why. Appended per run, so a number that moves can be traced to the step that moved it.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719072"/>
            <a:ext cx="5394960" cy="3054096"/>
          </a:xfrm>
          <a:prstGeom prst="roundRect">
            <a:avLst>
              <a:gd name="adj" fmla="val 1796"/>
            </a:avLst>
          </a:prstGeom>
          <a:solidFill>
            <a:srgbClr val="F4F6FA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last run actually did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311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69480" y="22585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contract-months removed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61518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269480" y="2642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test accounts excluded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29992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69480" y="3026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rows for features never bought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3383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3410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a contract and no usage — counted as zero, not unknown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7673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269480" y="3794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the current month marked still loading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4151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269480" y="41788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with no active contract — not scored, not shelfware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92240" y="457200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row, every run, with a reason — and shown in the dashboard.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1E2761"/>
          </a:solidFill>
          <a:ln w="6350">
            <a:solidFill>
              <a:srgbClr val="DEE1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8680" y="5212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cleaning is how data teams lose trust.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8680" y="555955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moves, nobody can explain it, and after that every number gets questioned. So the dashboard carries a permanent line above the metrics: what was excluded, what was deduplicated, and how current the data is.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HARD TRUTHS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went wrong, and what it changed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read past a wrong number.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version reported $1.9B at risk across 97 customers — larger than the business. I had multiplied consumption capacity by unit price instead of the commercial quantity. The pipeline reported success throughout.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95351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now a test that asserts the portfolio value is plausible. Structure was never the problem; magnitude was.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5387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own safety mechanism was never exercised.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audit's first run showed zero rows zero-filled. My generator was emitting zeros where real telemetry emits nothing, so the anti-shelfware logic had never run and its tests were passing vacuously.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caught it, not the tests. That is the argument for having built it.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5020056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validates mechanics, not predictive power.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538581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8B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tests prove the logic handles twelve messy realities. They cannot prove VRR predicts churn.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9161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needs a backtest against real history — which is exactly what I am asking for.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Adoption &amp; Value Realization Framework</dc:title>
  <dc:subject>PptxGenJS Presentation</dc:subject>
  <dc:creator>Suraj Parameswara Iyer</dc:creator>
  <cp:lastModifiedBy>Suraj Parameswara Iyer</cp:lastModifiedBy>
  <cp:revision>1</cp:revision>
  <dcterms:created xsi:type="dcterms:W3CDTF">2026-08-20T04:34:39Z</dcterms:created>
  <dcterms:modified xsi:type="dcterms:W3CDTF">2026-08-20T04:34:39Z</dcterms:modified>
</cp:coreProperties>
</file>